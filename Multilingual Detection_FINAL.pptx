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7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79" r:id="rId10"/>
    <p:sldId id="280" r:id="rId11"/>
    <p:sldId id="285" r:id="rId12"/>
    <p:sldId id="286" r:id="rId13"/>
    <p:sldId id="288" r:id="rId14"/>
    <p:sldId id="284" r:id="rId15"/>
    <p:sldId id="287" r:id="rId16"/>
    <p:sldId id="281" r:id="rId17"/>
    <p:sldId id="282" r:id="rId18"/>
    <p:sldId id="283" r:id="rId19"/>
  </p:sldIdLst>
  <p:sldSz cx="18288000" cy="10287000"/>
  <p:notesSz cx="6858000" cy="9144000"/>
  <p:embeddedFontLs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DM Sans Bold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56" d="100"/>
          <a:sy n="56" d="100"/>
        </p:scale>
        <p:origin x="6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11E72-06C6-4E51-8578-4454A0EE338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8B957-3C0F-4832-BFF2-B9E2CD9D2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981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8B957-3C0F-4832-BFF2-B9E2CD9D220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8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5486-4824-718E-D649-92870D40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AFBE0-85B5-DD85-661B-ABF6238C7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72657-29C2-DE43-10DA-29682FE7F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3278B-A8E5-17E3-794A-4A0653257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8B957-3C0F-4832-BFF2-B9E2CD9D220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37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75E2-0181-8D8B-EDB2-8977F8CC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730AB-805D-9696-7A6A-369E8B814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68ADC-565A-656C-969B-D11B0A82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430CE-506B-5D67-B5AB-F1FD7A9B4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8B957-3C0F-4832-BFF2-B9E2CD9D220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4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hyperlink" Target="https://web-production-1b5f2.up.railway.app/home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A31FE1D5-4637-37F5-CF62-812427BE3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42900"/>
            <a:ext cx="4216400" cy="358786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066800" y="3461818"/>
            <a:ext cx="17754600" cy="5447939"/>
            <a:chOff x="-13642333" y="2220506"/>
            <a:chExt cx="29117540" cy="8934620"/>
          </a:xfrm>
        </p:grpSpPr>
        <p:sp>
          <p:nvSpPr>
            <p:cNvPr id="5" name="TextBox 5"/>
            <p:cNvSpPr txBox="1"/>
            <p:nvPr/>
          </p:nvSpPr>
          <p:spPr>
            <a:xfrm>
              <a:off x="-13642333" y="2220506"/>
              <a:ext cx="29117540" cy="4007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0425"/>
                </a:lnSpc>
              </a:pPr>
              <a:r>
                <a:rPr lang="en-US" sz="4400" dirty="0">
                  <a:latin typeface="Times New Roman" panose="02020603050405020304" pitchFamily="18" charset="0"/>
                  <a:ea typeface="Georgia Pro Light"/>
                  <a:cs typeface="Times New Roman" panose="02020603050405020304" pitchFamily="18" charset="0"/>
                  <a:sym typeface="Georgia Pro Light"/>
                </a:rPr>
                <a:t>			Multilingual Hate Speech Detection Using NLP</a:t>
              </a:r>
            </a:p>
            <a:p>
              <a:pPr lvl="0">
                <a:lnSpc>
                  <a:spcPts val="10425"/>
                </a:lnSpc>
              </a:pPr>
              <a:endParaRPr lang="en-US" sz="32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3642333" y="6728016"/>
              <a:ext cx="9182100" cy="4427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740664">
                <a:lnSpc>
                  <a:spcPts val="3402"/>
                </a:lnSpc>
                <a:spcAft>
                  <a:spcPts val="600"/>
                </a:spcAft>
              </a:pPr>
              <a: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Submitted 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y: Devansh </a:t>
              </a:r>
            </a:p>
            <a:p>
              <a:pPr defTabSz="740664">
                <a:lnSpc>
                  <a:spcPts val="3402"/>
                </a:lnSpc>
                <a:spcAft>
                  <a:spcPts val="600"/>
                </a:spcAft>
              </a:pPr>
              <a:r>
                <a:rPr 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E.No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E23CSEU0940</a:t>
              </a:r>
              <a:b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Natural Language Processing( CSET346)</a:t>
              </a:r>
              <a:b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br>
                <a:rPr lang="en-US" sz="32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sz="3600" spc="-60" dirty="0">
                <a:solidFill>
                  <a:srgbClr val="2A3E52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7686D25-FC7B-C849-B7EF-475FD3222007}"/>
              </a:ext>
            </a:extLst>
          </p:cNvPr>
          <p:cNvSpPr txBox="1"/>
          <p:nvPr/>
        </p:nvSpPr>
        <p:spPr>
          <a:xfrm>
            <a:off x="5334000" y="1269839"/>
            <a:ext cx="92655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8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C794B7-B3BB-8B5C-34A5-1C65DD910328}"/>
              </a:ext>
            </a:extLst>
          </p:cNvPr>
          <p:cNvSpPr txBox="1"/>
          <p:nvPr/>
        </p:nvSpPr>
        <p:spPr>
          <a:xfrm>
            <a:off x="12192000" y="6177887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Deepti Shakya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63A152-633B-C2DA-D30D-CF15AC998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0725" y="2671529"/>
            <a:ext cx="7942073" cy="494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4"/>
          <p:cNvGrpSpPr/>
          <p:nvPr/>
        </p:nvGrpSpPr>
        <p:grpSpPr>
          <a:xfrm>
            <a:off x="965200" y="2676308"/>
            <a:ext cx="7942074" cy="4934381"/>
            <a:chOff x="0" y="66675"/>
            <a:chExt cx="11633200" cy="1013046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32104">
                <a:lnSpc>
                  <a:spcPts val="8008"/>
                </a:lnSpc>
                <a:spcAft>
                  <a:spcPts val="600"/>
                </a:spcAft>
              </a:pPr>
              <a:r>
                <a:rPr lang="en-US" sz="7280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Problem Statement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225801"/>
              <a:ext cx="11633200" cy="69713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832104">
                <a:lnSpc>
                  <a:spcPts val="2675"/>
                </a:lnSpc>
                <a:spcAft>
                  <a:spcPts val="600"/>
                </a:spcAft>
              </a:pPr>
              <a:r>
                <a:rPr lang="en-US" sz="2912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DM Sans"/>
                </a:rPr>
                <a:t>Online content poses challenges for detection systems as</a:t>
              </a:r>
            </a:p>
            <a:p>
              <a:pPr defTabSz="832104">
                <a:lnSpc>
                  <a:spcPts val="2675"/>
                </a:lnSpc>
                <a:spcAft>
                  <a:spcPts val="600"/>
                </a:spcAft>
              </a:pPr>
              <a:endParaRPr lang="en-US" sz="2912" kern="120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DM Sans"/>
              </a:endParaRP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12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DM Sans"/>
                </a:rPr>
                <a:t>Rapid growth of toxic content</a:t>
              </a: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12" kern="120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DM Sans"/>
              </a:endParaRP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12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DM Sans"/>
                </a:rPr>
                <a:t>Multilingual usage increasing</a:t>
              </a: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12" kern="120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DM Sans"/>
              </a:endParaRP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12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DM Sans"/>
                </a:rPr>
                <a:t>Hinglish highly inconsistent</a:t>
              </a: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12" kern="120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DM Sans"/>
              </a:endParaRPr>
            </a:p>
            <a:p>
              <a:pPr marL="312039" indent="-312039" defTabSz="832104">
                <a:lnSpc>
                  <a:spcPts val="2675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12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DM Sans"/>
                </a:rPr>
                <a:t>Traditional systems fail multilingual</a:t>
              </a:r>
              <a:endParaRPr lang="en-US" sz="3200">
                <a:solidFill>
                  <a:srgbClr val="2C3E5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E58ECA5-ECA6-0D93-2249-CA18151A8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725" y="2492833"/>
            <a:ext cx="7942073" cy="530133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965200" y="2548198"/>
            <a:ext cx="7942074" cy="5190601"/>
            <a:chOff x="-37911" y="676275"/>
            <a:chExt cx="11404600" cy="7453559"/>
          </a:xfrm>
        </p:grpSpPr>
        <p:sp>
          <p:nvSpPr>
            <p:cNvPr id="5" name="TextBox 5"/>
            <p:cNvSpPr txBox="1"/>
            <p:nvPr/>
          </p:nvSpPr>
          <p:spPr>
            <a:xfrm>
              <a:off x="-37911" y="676275"/>
              <a:ext cx="11404600" cy="150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841248">
                <a:lnSpc>
                  <a:spcPts val="8096"/>
                </a:lnSpc>
                <a:spcAft>
                  <a:spcPts val="600"/>
                </a:spcAft>
              </a:pPr>
              <a:r>
                <a:rPr lang="en-US" sz="7360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Project Objectives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459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2890" indent="-262890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Detect hate speech accurately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262890" indent="-262890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Support multilingual inputs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262890" indent="-262890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Handle Hinglish variations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262890" indent="-262890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Compare different NLP models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06200" y="2324100"/>
            <a:ext cx="575310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C3E50"/>
                </a:solidFill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  <a:sym typeface="Georgia Pro Light"/>
              </a:rPr>
              <a:t>Dataset</a:t>
            </a:r>
            <a:endParaRPr lang="en-US" sz="8000" dirty="0">
              <a:solidFill>
                <a:srgbClr val="2C3E50"/>
              </a:solidFill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  <a:sym typeface="Georgia Pro Ligh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991600" y="3619500"/>
            <a:ext cx="12296775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utilizes the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HASOC 2019 dataset + HASOC 2020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has English + Hindi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 as HOF vs NOT 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	:  17,188 samples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    	   	:   3,948 samples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6B20EB-8E1E-D450-9D9C-FA8CC9F51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81236"/>
            <a:ext cx="7391400" cy="907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0" y="1111626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rPr>
              <a:t>System Pipeline</a:t>
            </a:r>
            <a:endParaRPr lang="en-US" sz="8000" dirty="0">
              <a:solidFill>
                <a:srgbClr val="2C3E50"/>
              </a:solidFill>
              <a:latin typeface="Times New Roman" panose="02020603050405020304" pitchFamily="18" charset="0"/>
              <a:ea typeface="Georgia Pro Light"/>
              <a:cs typeface="Times New Roman" panose="02020603050405020304" pitchFamily="18" charset="0"/>
              <a:sym typeface="Georgia Pro Ligh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43000" y="2247900"/>
            <a:ext cx="4314825" cy="5819776"/>
            <a:chOff x="0" y="-47625"/>
            <a:chExt cx="5753100" cy="7759693"/>
          </a:xfrm>
        </p:grpSpPr>
        <p:sp>
          <p:nvSpPr>
            <p:cNvPr id="4" name="TextBox 4"/>
            <p:cNvSpPr txBox="1"/>
            <p:nvPr/>
          </p:nvSpPr>
          <p:spPr>
            <a:xfrm>
              <a:off x="0" y="1146175"/>
              <a:ext cx="5753100" cy="6565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3200" b="1" dirty="0"/>
                <a:t>Processing Pipeline</a:t>
              </a:r>
            </a:p>
            <a:p>
              <a:endParaRPr lang="en-US" sz="32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/>
                <a:t>Input text received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/>
                <a:t>Text preprocessing applied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/>
                <a:t>Optional normalization step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/>
                <a:t>Model prediction generated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/>
                <a:t>Result displayed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endParaRPr lang="en-US" sz="2600" b="1" dirty="0">
                <a:solidFill>
                  <a:srgbClr val="2980B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12431"/>
            <a:ext cx="4314825" cy="1708353"/>
            <a:chOff x="0" y="-47625"/>
            <a:chExt cx="5753100" cy="2277804"/>
          </a:xfrm>
        </p:grpSpPr>
        <p:sp>
          <p:nvSpPr>
            <p:cNvPr id="7" name="TextBox 7"/>
            <p:cNvSpPr txBox="1"/>
            <p:nvPr/>
          </p:nvSpPr>
          <p:spPr>
            <a:xfrm>
              <a:off x="0" y="1755775"/>
              <a:ext cx="57531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endParaRPr lang="en-US" sz="2600" b="1" dirty="0">
                <a:solidFill>
                  <a:srgbClr val="2980B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12431"/>
            <a:ext cx="4314825" cy="1708353"/>
            <a:chOff x="0" y="-47625"/>
            <a:chExt cx="5753100" cy="227780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755775"/>
              <a:ext cx="5753100" cy="47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endParaRPr lang="en-US" sz="2099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753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endParaRPr lang="en-US" sz="2600" b="1" dirty="0">
                <a:solidFill>
                  <a:srgbClr val="2980B9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8C32EC4-30C4-5142-68AB-E4DCDE78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3543300"/>
            <a:ext cx="11582400" cy="2834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"/>
          <p:cNvGrpSpPr/>
          <p:nvPr/>
        </p:nvGrpSpPr>
        <p:grpSpPr>
          <a:xfrm>
            <a:off x="10283806" y="965200"/>
            <a:ext cx="6135910" cy="8356599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5200" y="1992922"/>
            <a:ext cx="7942074" cy="6301155"/>
            <a:chOff x="0" y="66675"/>
            <a:chExt cx="11430000" cy="906843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248">
                <a:lnSpc>
                  <a:spcPts val="8096"/>
                </a:lnSpc>
                <a:spcAft>
                  <a:spcPts val="600"/>
                </a:spcAft>
              </a:pPr>
              <a:r>
                <a:rPr lang="en-US" sz="7360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Preprocessing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0200" y="3225798"/>
              <a:ext cx="11099800" cy="5909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248">
                <a:spcAft>
                  <a:spcPts val="600"/>
                </a:spcAft>
              </a:pPr>
              <a:r>
                <a:rPr lang="en-US" sz="2944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Text Cleaning Steps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624" indent="-420624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Convert text to lowercase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624" indent="-420624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Remove URLs, mentions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624" indent="-420624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Remove punctuation symbols</a:t>
              </a:r>
            </a:p>
            <a:p>
              <a:pPr defTabSz="841248">
                <a:spcAft>
                  <a:spcPts val="600"/>
                </a:spcAft>
              </a:pPr>
              <a:endParaRPr lang="en-US" sz="2944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624" indent="-420624" defTabSz="841248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Normalize whitespace spacing</a:t>
              </a:r>
              <a:endParaRPr lang="en-US" sz="32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657FC-97EF-F886-07E8-374D314A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0E515D-8A31-3A09-F49C-BFB95CEF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3157980"/>
            <a:ext cx="7942074" cy="397103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4">
            <a:extLst>
              <a:ext uri="{FF2B5EF4-FFF2-40B4-BE49-F238E27FC236}">
                <a16:creationId xmlns:a16="http://schemas.microsoft.com/office/drawing/2014/main" id="{445F125E-D408-E84B-33AE-71CF0D570F97}"/>
              </a:ext>
            </a:extLst>
          </p:cNvPr>
          <p:cNvGrpSpPr/>
          <p:nvPr/>
        </p:nvGrpSpPr>
        <p:grpSpPr>
          <a:xfrm>
            <a:off x="9380725" y="2045115"/>
            <a:ext cx="7942073" cy="6196768"/>
            <a:chOff x="0" y="66675"/>
            <a:chExt cx="11351525" cy="88569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4AC6A09-AE2B-AF5E-E793-859A19BAC109}"/>
                </a:ext>
              </a:extLst>
            </p:cNvPr>
            <p:cNvSpPr txBox="1"/>
            <p:nvPr/>
          </p:nvSpPr>
          <p:spPr>
            <a:xfrm>
              <a:off x="0" y="66675"/>
              <a:ext cx="11099800" cy="1554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50392">
                <a:lnSpc>
                  <a:spcPts val="8184"/>
                </a:lnSpc>
                <a:spcAft>
                  <a:spcPts val="600"/>
                </a:spcAft>
              </a:pPr>
              <a:r>
                <a:rPr lang="en-US" sz="7440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 Normalization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B98E7D-9D14-3C75-0F1A-CB9A9C9DCA6A}"/>
                </a:ext>
              </a:extLst>
            </p:cNvPr>
            <p:cNvSpPr txBox="1"/>
            <p:nvPr/>
          </p:nvSpPr>
          <p:spPr>
            <a:xfrm>
              <a:off x="251725" y="3014343"/>
              <a:ext cx="11099800" cy="5909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50392">
                <a:spcAft>
                  <a:spcPts val="600"/>
                </a:spcAft>
              </a:pPr>
              <a:r>
                <a:rPr lang="en-US" sz="2976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Transliteration Normalization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Hinglish mapped to English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Fuzzy matching applied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Handles spelling variations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Improves model understanding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330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42EAD-5828-1B22-9E49-70B5D191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0541549-A5BF-DDBE-76C5-7EC959686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625442"/>
            <a:ext cx="10540998" cy="7036115"/>
          </a:xfrm>
          <a:prstGeom prst="rect">
            <a:avLst/>
          </a:prstGeom>
        </p:spPr>
      </p:pic>
      <p:sp>
        <p:nvSpPr>
          <p:cNvPr id="2" name="AutoShape 2" descr="Generated image: NLP text classification pipeline infographic">
            <a:extLst>
              <a:ext uri="{FF2B5EF4-FFF2-40B4-BE49-F238E27FC236}">
                <a16:creationId xmlns:a16="http://schemas.microsoft.com/office/drawing/2014/main" id="{391CB062-837F-F48C-EF56-EA97AE5A0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CF692B3-4614-BF30-ACFF-C05DB3DA3988}"/>
              </a:ext>
            </a:extLst>
          </p:cNvPr>
          <p:cNvGrpSpPr/>
          <p:nvPr/>
        </p:nvGrpSpPr>
        <p:grpSpPr>
          <a:xfrm>
            <a:off x="965200" y="1671783"/>
            <a:ext cx="7937499" cy="6943430"/>
            <a:chOff x="-1" y="66675"/>
            <a:chExt cx="11340909" cy="992059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0A80DF-1EAF-EDB6-666A-CFA94B801A26}"/>
                </a:ext>
              </a:extLst>
            </p:cNvPr>
            <p:cNvSpPr txBox="1"/>
            <p:nvPr/>
          </p:nvSpPr>
          <p:spPr>
            <a:xfrm>
              <a:off x="-1" y="66675"/>
              <a:ext cx="11099800" cy="1554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888">
                <a:lnSpc>
                  <a:spcPts val="8102"/>
                </a:lnSpc>
                <a:spcAft>
                  <a:spcPts val="594"/>
                </a:spcAft>
              </a:pPr>
              <a:r>
                <a:rPr lang="en-US" sz="7366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 Models Used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0AA3F06-576D-7E07-4A6E-654C86528AC6}"/>
                </a:ext>
              </a:extLst>
            </p:cNvPr>
            <p:cNvSpPr txBox="1"/>
            <p:nvPr/>
          </p:nvSpPr>
          <p:spPr>
            <a:xfrm>
              <a:off x="241110" y="2108199"/>
              <a:ext cx="11099798" cy="7879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888">
                <a:spcAft>
                  <a:spcPts val="594"/>
                </a:spcAft>
              </a:pPr>
              <a:r>
                <a:rPr lang="en-US" sz="2946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Models Implemented</a:t>
              </a:r>
            </a:p>
            <a:p>
              <a:pPr defTabSz="841888">
                <a:spcAft>
                  <a:spcPts val="594"/>
                </a:spcAft>
              </a:pPr>
              <a:endParaRPr lang="en-US" sz="2946" b="1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841888">
                <a:spcAft>
                  <a:spcPts val="594"/>
                </a:spcAft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Logistic Regression Model</a:t>
              </a:r>
            </a:p>
            <a:p>
              <a:pPr defTabSz="841888">
                <a:spcAft>
                  <a:spcPts val="594"/>
                </a:spcAft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TF-IDF feature extraction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Word and char n-grams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Fast and efficient model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Strong baseline performance</a:t>
              </a:r>
            </a:p>
            <a:p>
              <a:pPr>
                <a:spcAft>
                  <a:spcPts val="600"/>
                </a:spcAft>
              </a:pPr>
              <a:endParaRPr 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422704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DCB91-9FF9-B6D2-3375-202CE4C0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736339-D187-D03D-8C06-EC2EF4430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0" y="1562100"/>
            <a:ext cx="12928600" cy="7391399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0149105D-EC0C-5EC6-73E5-5D57A58104B0}"/>
              </a:ext>
            </a:extLst>
          </p:cNvPr>
          <p:cNvGrpSpPr/>
          <p:nvPr/>
        </p:nvGrpSpPr>
        <p:grpSpPr>
          <a:xfrm>
            <a:off x="965200" y="1639302"/>
            <a:ext cx="7937500" cy="7008395"/>
            <a:chOff x="0" y="66675"/>
            <a:chExt cx="11340911" cy="1001342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66405E-CC51-E17D-C878-1A157F50F405}"/>
                </a:ext>
              </a:extLst>
            </p:cNvPr>
            <p:cNvSpPr txBox="1"/>
            <p:nvPr/>
          </p:nvSpPr>
          <p:spPr>
            <a:xfrm>
              <a:off x="0" y="66675"/>
              <a:ext cx="11099800" cy="1554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36457">
                <a:lnSpc>
                  <a:spcPts val="8050"/>
                </a:lnSpc>
                <a:spcAft>
                  <a:spcPts val="457"/>
                </a:spcAft>
              </a:pPr>
              <a:r>
                <a:rPr lang="en-US" sz="7318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 Models Used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04D1AE-B16A-A1AB-1712-FB674D59B266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7971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36457">
                <a:spcAft>
                  <a:spcPts val="457"/>
                </a:spcAft>
              </a:pP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LSTM Model</a:t>
              </a:r>
              <a:b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endParaRPr lang="en-US" sz="2927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r>
                <a:rPr lang="en-US" sz="2927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BiLSTM</a:t>
              </a: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with Attention</a:t>
              </a: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endParaRPr lang="en-US" sz="2927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Captures sequential context</a:t>
              </a: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endParaRPr lang="en-US" sz="2927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Uses FASTTEXT embeddings</a:t>
              </a: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endParaRPr lang="en-US" sz="2927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Handles complex patterns</a:t>
              </a: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endParaRPr lang="en-US" sz="2927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18228" indent="-418228" defTabSz="836457">
                <a:spcAft>
                  <a:spcPts val="457"/>
                </a:spcAft>
                <a:buFont typeface="Arial" panose="020B0604020202020204" pitchFamily="34" charset="0"/>
                <a:buChar char="•"/>
              </a:pPr>
              <a:r>
                <a:rPr lang="en-US" sz="292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Better contextual understanding</a:t>
              </a:r>
              <a:endParaRPr 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4093517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66AD7-BB80-98B1-9CBE-ACD30621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A52486-DCEE-A20C-9496-AFCF7E32C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333500"/>
            <a:ext cx="11415732" cy="762000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727B6D48-ABC7-881E-45FF-60DBBACE0C21}"/>
              </a:ext>
            </a:extLst>
          </p:cNvPr>
          <p:cNvGrpSpPr/>
          <p:nvPr/>
        </p:nvGrpSpPr>
        <p:grpSpPr>
          <a:xfrm>
            <a:off x="965200" y="1901558"/>
            <a:ext cx="7937500" cy="6483883"/>
            <a:chOff x="0" y="66675"/>
            <a:chExt cx="11340911" cy="92640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70A16A7-7427-33A6-D811-344150475619}"/>
                </a:ext>
              </a:extLst>
            </p:cNvPr>
            <p:cNvSpPr txBox="1"/>
            <p:nvPr/>
          </p:nvSpPr>
          <p:spPr>
            <a:xfrm>
              <a:off x="0" y="66675"/>
              <a:ext cx="11099800" cy="1554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888">
                <a:lnSpc>
                  <a:spcPts val="8102"/>
                </a:lnSpc>
                <a:spcAft>
                  <a:spcPts val="594"/>
                </a:spcAft>
              </a:pPr>
              <a:r>
                <a:rPr lang="en-US" sz="7366" kern="120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 Models Used</a:t>
              </a:r>
              <a:endParaRPr lang="en-US" sz="800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175674F-03CC-36EA-ADFF-44D48B2B8DFE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7222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41888">
                <a:spcAft>
                  <a:spcPts val="594"/>
                </a:spcAft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MuRIL Model</a:t>
              </a:r>
              <a:b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</a:b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Transformer Model (MuRIL)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Multilingual pretrained model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Handles Hinglish naturally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Uses </a:t>
              </a:r>
              <a:r>
                <a:rPr lang="en-US" sz="2946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subword</a:t>
              </a: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tokenization</a:t>
              </a: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endParaRPr lang="en-US" sz="2946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0944" indent="-420944" defTabSz="841888">
                <a:spcAft>
                  <a:spcPts val="594"/>
                </a:spcAft>
                <a:buFont typeface="Arial" panose="020B0604020202020204" pitchFamily="34" charset="0"/>
                <a:buChar char="•"/>
              </a:pPr>
              <a:r>
                <a:rPr lang="en-US" sz="294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Best overall performance</a:t>
              </a:r>
              <a:endParaRPr 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1905334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2A17-8312-DE42-0BF4-42B4C113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B8ADAB5-2408-6AA3-8B26-502656197406}"/>
              </a:ext>
            </a:extLst>
          </p:cNvPr>
          <p:cNvGrpSpPr/>
          <p:nvPr/>
        </p:nvGrpSpPr>
        <p:grpSpPr>
          <a:xfrm>
            <a:off x="847583" y="1230857"/>
            <a:ext cx="14640066" cy="1433286"/>
            <a:chOff x="241111" y="853742"/>
            <a:chExt cx="19520089" cy="191104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D098ADD-23E6-2CCC-A5A6-CE1D9AA2BD4F}"/>
                </a:ext>
              </a:extLst>
            </p:cNvPr>
            <p:cNvSpPr txBox="1"/>
            <p:nvPr/>
          </p:nvSpPr>
          <p:spPr>
            <a:xfrm>
              <a:off x="8661400" y="853742"/>
              <a:ext cx="11099800" cy="1554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2C3E50"/>
                  </a:solidFill>
                  <a:latin typeface="Times New Roman" panose="02020603050405020304" pitchFamily="18" charset="0"/>
                  <a:ea typeface="Georgia Pro Light"/>
                  <a:cs typeface="Times New Roman" panose="02020603050405020304" pitchFamily="18" charset="0"/>
                  <a:sym typeface="Georgia Pro Light"/>
                </a:rPr>
                <a:t> Results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08C8DB-957A-A2E1-855A-133FCEE4173B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656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sz="3200" dirty="0"/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25FA2A-1C6B-0FCC-88D4-C1D9EA3B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601171"/>
              </p:ext>
            </p:extLst>
          </p:nvPr>
        </p:nvGraphicFramePr>
        <p:xfrm>
          <a:off x="1676400" y="3467100"/>
          <a:ext cx="14935200" cy="488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3835655366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880621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566666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675676336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effectLst/>
                        </a:rPr>
                        <a:t>Metric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 (LR)</a:t>
                      </a:r>
                      <a:endParaRPr lang="en-I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LSTM</a:t>
                      </a:r>
                      <a:endParaRPr lang="en-I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MuRIL (Transformer)</a:t>
                      </a:r>
                      <a:endParaRPr lang="en-IN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06317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 Accuracy</a:t>
                      </a:r>
                      <a:endParaRPr lang="en-IN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77.7</a:t>
                      </a:r>
                      <a:endParaRPr lang="en-I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/>
                        <a:t>82.35</a:t>
                      </a:r>
                      <a:endParaRPr lang="en-IN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66167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Validation Accuracy</a:t>
                      </a:r>
                      <a:endParaRPr lang="en-IN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/>
                        <a:t>-</a:t>
                      </a:r>
                      <a:endParaRPr lang="en-IN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/>
                        <a:t>82.48</a:t>
                      </a:r>
                      <a:endParaRPr lang="en-IN" sz="3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1062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Accuracy</a:t>
                      </a:r>
                      <a:endParaRPr lang="en-IN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82.35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661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Precision/Recall(Macro)</a:t>
                      </a:r>
                      <a:endParaRPr lang="en-IN" sz="4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80.64/80.47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80.53/77.66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81.15/80.59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93197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br>
                        <a:rPr lang="en-IN" sz="2400" b="1" dirty="0">
                          <a:effectLst/>
                        </a:rPr>
                      </a:br>
                      <a:r>
                        <a:rPr lang="en-IN" sz="2400" b="1" dirty="0">
                          <a:effectLst/>
                        </a:rPr>
                        <a:t>F1-Score(Macro)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br>
                        <a:rPr lang="en-IN" b="1" dirty="0">
                          <a:effectLst/>
                        </a:rPr>
                      </a:br>
                      <a:r>
                        <a:rPr lang="en-IN" sz="3200" b="1" dirty="0">
                          <a:effectLst/>
                        </a:rPr>
                        <a:t>0.8055</a:t>
                      </a:r>
                      <a:endParaRPr lang="en-IN" b="1" dirty="0">
                        <a:effectLst/>
                      </a:endParaRP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effectLst/>
                        </a:rPr>
                        <a:t>~0.7856</a:t>
                      </a:r>
                    </a:p>
                  </a:txBody>
                  <a:tcPr marL="45720" marR="4572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0.8085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84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34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CAFC-7900-C4CE-2295-CD8CB136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32D3663-E28B-2AA3-575D-5C42AE05D228}"/>
              </a:ext>
            </a:extLst>
          </p:cNvPr>
          <p:cNvGrpSpPr/>
          <p:nvPr/>
        </p:nvGrpSpPr>
        <p:grpSpPr>
          <a:xfrm>
            <a:off x="847583" y="1230857"/>
            <a:ext cx="14640066" cy="1433286"/>
            <a:chOff x="241111" y="853742"/>
            <a:chExt cx="19520089" cy="191104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37D4A5A-A2BE-0E19-75EB-BB000FDB5B7C}"/>
                </a:ext>
              </a:extLst>
            </p:cNvPr>
            <p:cNvSpPr txBox="1"/>
            <p:nvPr/>
          </p:nvSpPr>
          <p:spPr>
            <a:xfrm>
              <a:off x="8661400" y="853742"/>
              <a:ext cx="11099800" cy="1554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2C3E50"/>
                  </a:solidFill>
                  <a:latin typeface="Times New Roman" panose="02020603050405020304" pitchFamily="18" charset="0"/>
                  <a:ea typeface="Georgia Pro Light"/>
                  <a:cs typeface="Times New Roman" panose="02020603050405020304" pitchFamily="18" charset="0"/>
                  <a:sym typeface="Georgia Pro Light"/>
                </a:rPr>
                <a:t>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D90408A-13A1-771A-51E9-88B20411A64A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656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sz="32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E4376B3-4211-E82A-7D0B-B851696304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76722"/>
            <a:ext cx="15392400" cy="3764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750A5E-CCD2-9326-FB9E-3C254586A9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533900"/>
            <a:ext cx="14020800" cy="477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5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19DD-B80F-69CD-FE72-3C547484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C0C73FEE-C45E-FEFA-9FBC-F23E17A1F1A8}"/>
              </a:ext>
            </a:extLst>
          </p:cNvPr>
          <p:cNvGrpSpPr/>
          <p:nvPr/>
        </p:nvGrpSpPr>
        <p:grpSpPr>
          <a:xfrm>
            <a:off x="847583" y="1230857"/>
            <a:ext cx="14640066" cy="1433286"/>
            <a:chOff x="241111" y="853742"/>
            <a:chExt cx="19520089" cy="191104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850FE96-3634-6A70-16D4-3DC5B4901CD4}"/>
                </a:ext>
              </a:extLst>
            </p:cNvPr>
            <p:cNvSpPr txBox="1"/>
            <p:nvPr/>
          </p:nvSpPr>
          <p:spPr>
            <a:xfrm>
              <a:off x="8661400" y="853742"/>
              <a:ext cx="11099800" cy="1554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2C3E50"/>
                  </a:solidFill>
                  <a:latin typeface="Times New Roman" panose="02020603050405020304" pitchFamily="18" charset="0"/>
                  <a:ea typeface="Georgia Pro Light"/>
                  <a:cs typeface="Times New Roman" panose="02020603050405020304" pitchFamily="18" charset="0"/>
                  <a:sym typeface="Georgia Pro Light"/>
                </a:rPr>
                <a:t>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631FBC-5334-B63A-DB64-A83E3FEC53C6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656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sz="320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D3EE442-46B4-36F5-10EF-0666F9780D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24" y="2208091"/>
            <a:ext cx="9052578" cy="59253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6B1D28-9109-46AD-51DD-7795FD8689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970" y="2019300"/>
            <a:ext cx="7924800" cy="59253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F6C92A8-9CDC-796F-88FA-CD5BB16878DE}"/>
              </a:ext>
            </a:extLst>
          </p:cNvPr>
          <p:cNvSpPr txBox="1"/>
          <p:nvPr/>
        </p:nvSpPr>
        <p:spPr>
          <a:xfrm>
            <a:off x="6172200" y="694442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omparisons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0E19B-3337-2F6E-2F45-0AF189CE0FB8}"/>
              </a:ext>
            </a:extLst>
          </p:cNvPr>
          <p:cNvSpPr txBox="1"/>
          <p:nvPr/>
        </p:nvSpPr>
        <p:spPr>
          <a:xfrm>
            <a:off x="483720" y="8224399"/>
            <a:ext cx="83248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Comparison of hate speech detection models on English datasets.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Classical models (Logistic Regression) and transformer-based approaches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(BERT) are compared with the proposed models. The proposed MuRIL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model achieves competitive performance (Macro F1 = 0.8266), outperforming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traditional baselines and HASOC competition results. Note: Some prior works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use a 3-class classification setup (†), while others use binary classification;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comparisons are therefore indicative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B72BD-097B-B6F8-ED8C-8A6A82C979B3}"/>
              </a:ext>
            </a:extLst>
          </p:cNvPr>
          <p:cNvSpPr txBox="1"/>
          <p:nvPr/>
        </p:nvSpPr>
        <p:spPr>
          <a:xfrm>
            <a:off x="9519237" y="8224399"/>
            <a:ext cx="80829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Performance comparison on Hindi and code-mixed (Indic) datasets.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The proposed MuRIL model achieves the highest performance among com-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pared Indic models (Macro F1 = 0.8037), outperforming approaches such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as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mBERT</a:t>
            </a:r>
            <a:r>
              <a:rPr lang="en-US" b="0" i="0" dirty="0">
                <a:effectLst/>
                <a:latin typeface="Arial" panose="020B0604020202020204" pitchFamily="34" charset="0"/>
              </a:rPr>
              <a:t>  and the HASOC 2020 competition best system . This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highlights the effectiveness of transformer-based models for multilingual and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code-mixed text. Note: Velankar et al. [18] use a multi-class Marathi dataset,</a:t>
            </a:r>
            <a:br>
              <a:rPr lang="en-US" dirty="0"/>
            </a:br>
            <a:r>
              <a:rPr lang="en-US" b="0" i="0" dirty="0">
                <a:effectLst/>
                <a:latin typeface="Arial" panose="020B0604020202020204" pitchFamily="34" charset="0"/>
              </a:rPr>
              <a:t>and Patro et al. use Hinglish Twitter data; comparisons are indicative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92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40730-7158-6273-6442-D25E5310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FAFB33-8BA8-56C1-EB7E-D7FB8F1FD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" y="2933700"/>
            <a:ext cx="8319886" cy="495300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19937" y="1714500"/>
            <a:ext cx="0" cy="6858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4">
            <a:extLst>
              <a:ext uri="{FF2B5EF4-FFF2-40B4-BE49-F238E27FC236}">
                <a16:creationId xmlns:a16="http://schemas.microsoft.com/office/drawing/2014/main" id="{4B4D707F-11A5-F89D-7FB0-5A5FF04228D9}"/>
              </a:ext>
            </a:extLst>
          </p:cNvPr>
          <p:cNvGrpSpPr/>
          <p:nvPr/>
        </p:nvGrpSpPr>
        <p:grpSpPr>
          <a:xfrm>
            <a:off x="10430252" y="2019300"/>
            <a:ext cx="7942073" cy="5567992"/>
            <a:chOff x="0" y="66675"/>
            <a:chExt cx="11340911" cy="795083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620A38C-52FE-F63D-FC3D-B4B5FC17BE6C}"/>
                </a:ext>
              </a:extLst>
            </p:cNvPr>
            <p:cNvSpPr txBox="1"/>
            <p:nvPr/>
          </p:nvSpPr>
          <p:spPr>
            <a:xfrm>
              <a:off x="0" y="66675"/>
              <a:ext cx="11099800" cy="1554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50392">
                <a:lnSpc>
                  <a:spcPts val="8184"/>
                </a:lnSpc>
                <a:spcAft>
                  <a:spcPts val="600"/>
                </a:spcAft>
              </a:pPr>
              <a:r>
                <a:rPr lang="en-US" sz="7440" kern="1200" dirty="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System Features</a:t>
              </a:r>
              <a:endParaRPr lang="en-US" sz="80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B4D7961-B6F9-0907-B736-B4029876B175}"/>
                </a:ext>
              </a:extLst>
            </p:cNvPr>
            <p:cNvSpPr txBox="1"/>
            <p:nvPr/>
          </p:nvSpPr>
          <p:spPr>
            <a:xfrm>
              <a:off x="241111" y="2108199"/>
              <a:ext cx="11099800" cy="5909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50392">
                <a:spcAft>
                  <a:spcPts val="600"/>
                </a:spcAft>
              </a:pPr>
              <a:r>
                <a:rPr lang="en-US" sz="2976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Web Application Features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User login and authentication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Real-time text prediction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History tracking system</a:t>
              </a: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2976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25196" indent="-425196" defTabSz="850392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976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PDF report generation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5305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35005-1DFC-6FD8-D478-BD2F6F50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28EB1-4C33-4E5E-75F2-9B39EE50B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28" y="5301204"/>
            <a:ext cx="8140146" cy="41514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75420" y="0"/>
            <a:ext cx="137160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4920"/>
            <a:ext cx="9189720" cy="1371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32AE9-9DC1-FE0A-C18B-E9541A7E6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266" y="749919"/>
            <a:ext cx="8140146" cy="4151475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77A8D906-9A81-1E06-6B88-A6B4227389AD}"/>
              </a:ext>
            </a:extLst>
          </p:cNvPr>
          <p:cNvGrpSpPr/>
          <p:nvPr/>
        </p:nvGrpSpPr>
        <p:grpSpPr>
          <a:xfrm>
            <a:off x="685801" y="5938715"/>
            <a:ext cx="8140146" cy="1267554"/>
            <a:chOff x="0" y="66675"/>
            <a:chExt cx="11311912" cy="176144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86C9D4D-32DC-185C-A27E-E78B7F373CBB}"/>
                </a:ext>
              </a:extLst>
            </p:cNvPr>
            <p:cNvSpPr txBox="1"/>
            <p:nvPr/>
          </p:nvSpPr>
          <p:spPr>
            <a:xfrm>
              <a:off x="0" y="66675"/>
              <a:ext cx="11099799" cy="120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859371">
                <a:lnSpc>
                  <a:spcPts val="8270"/>
                </a:lnSpc>
                <a:spcAft>
                  <a:spcPts val="403"/>
                </a:spcAft>
              </a:pPr>
              <a:endParaRPr lang="en-US" sz="24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FBE31DD-E23E-DC3B-7A98-CBD73ECD1F69}"/>
                </a:ext>
              </a:extLst>
            </p:cNvPr>
            <p:cNvSpPr txBox="1"/>
            <p:nvPr/>
          </p:nvSpPr>
          <p:spPr>
            <a:xfrm>
              <a:off x="212112" y="1359592"/>
              <a:ext cx="11099800" cy="4685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280160">
                <a:spcAft>
                  <a:spcPts val="600"/>
                </a:spcAft>
              </a:pPr>
              <a:endParaRPr lang="en-US" sz="32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CBE4A2-4A93-5316-4043-0198E6E91174}"/>
              </a:ext>
            </a:extLst>
          </p:cNvPr>
          <p:cNvSpPr txBox="1"/>
          <p:nvPr/>
        </p:nvSpPr>
        <p:spPr>
          <a:xfrm>
            <a:off x="872558" y="485815"/>
            <a:ext cx="9144000" cy="318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59371">
              <a:lnSpc>
                <a:spcPts val="8270"/>
              </a:lnSpc>
              <a:spcAft>
                <a:spcPts val="403"/>
              </a:spcAft>
            </a:pPr>
            <a:r>
              <a:rPr lang="en-US" sz="5400" kern="1200" dirty="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Georgia Pro Light"/>
              </a:rPr>
              <a:t>WEBSITE</a:t>
            </a:r>
            <a:r>
              <a:rPr lang="en-US" sz="7200" kern="1200" dirty="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Georgia Pro Light"/>
              </a:rPr>
              <a:t> – </a:t>
            </a:r>
          </a:p>
          <a:p>
            <a:pPr defTabSz="859371">
              <a:lnSpc>
                <a:spcPts val="8270"/>
              </a:lnSpc>
              <a:spcAft>
                <a:spcPts val="403"/>
              </a:spcAft>
            </a:pPr>
            <a:r>
              <a:rPr lang="en-US" sz="2400" kern="1200" dirty="0">
                <a:solidFill>
                  <a:srgbClr val="2C3E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Georgia Pro Light"/>
              </a:rPr>
              <a:t>Try here!!</a:t>
            </a:r>
          </a:p>
          <a:p>
            <a:pPr defTabSz="859371">
              <a:lnSpc>
                <a:spcPts val="8270"/>
              </a:lnSpc>
              <a:spcAft>
                <a:spcPts val="403"/>
              </a:spcAft>
            </a:pP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HateShield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 – Multilingual Hate Speech Detection</a:t>
            </a:r>
            <a:endParaRPr lang="en-US" sz="3600" dirty="0">
              <a:solidFill>
                <a:srgbClr val="2C3E50"/>
              </a:solidFill>
              <a:latin typeface="Times New Roman" panose="02020603050405020304" pitchFamily="18" charset="0"/>
              <a:ea typeface="Georgia Pro Light"/>
              <a:cs typeface="Times New Roman" panose="02020603050405020304" pitchFamily="18" charset="0"/>
              <a:sym typeface="Georgia Pro Ligh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DBE0DF-DE81-E111-2BBD-A08F0844B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88" y="5212080"/>
            <a:ext cx="8037524" cy="422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42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CCAD0-286C-D02F-EC6B-D6F8A0DA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3C9D46-457B-851C-9C6C-5B40B383C02F}"/>
              </a:ext>
            </a:extLst>
          </p:cNvPr>
          <p:cNvGrpSpPr/>
          <p:nvPr/>
        </p:nvGrpSpPr>
        <p:grpSpPr>
          <a:xfrm>
            <a:off x="1752600" y="1189310"/>
            <a:ext cx="11894867" cy="6370835"/>
            <a:chOff x="-1362047" y="279903"/>
            <a:chExt cx="11317300" cy="606149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3221D23-FD3E-18CC-7560-40A2C5C970B7}"/>
                </a:ext>
              </a:extLst>
            </p:cNvPr>
            <p:cNvSpPr txBox="1"/>
            <p:nvPr/>
          </p:nvSpPr>
          <p:spPr>
            <a:xfrm>
              <a:off x="-1362047" y="279903"/>
              <a:ext cx="11099800" cy="1354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280160">
                <a:lnSpc>
                  <a:spcPts val="12320"/>
                </a:lnSpc>
                <a:spcAft>
                  <a:spcPts val="600"/>
                </a:spcAft>
              </a:pPr>
              <a:r>
                <a:rPr lang="en-US" sz="8000" kern="1200" dirty="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Challenges</a:t>
              </a:r>
              <a:endParaRPr lang="en-US" sz="80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247677F-270A-450A-50A5-B156D86588AB}"/>
                </a:ext>
              </a:extLst>
            </p:cNvPr>
            <p:cNvSpPr txBox="1"/>
            <p:nvPr/>
          </p:nvSpPr>
          <p:spPr>
            <a:xfrm>
              <a:off x="-1144547" y="2080687"/>
              <a:ext cx="11099800" cy="426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280160">
                <a:spcAft>
                  <a:spcPts val="600"/>
                </a:spcAft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Hinglish spelling variations</a:t>
              </a: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Dataset imbalance issues</a:t>
              </a: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Model deployment constraints</a:t>
              </a: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28016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dirty="0"/>
                <a:t>Less Accuracy achieved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53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1B6CD-602E-CC0C-F4EE-71BB46B6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66EB0B6-6447-2E3F-4918-EBF217B6771D}"/>
              </a:ext>
            </a:extLst>
          </p:cNvPr>
          <p:cNvGrpSpPr/>
          <p:nvPr/>
        </p:nvGrpSpPr>
        <p:grpSpPr>
          <a:xfrm>
            <a:off x="2286000" y="1733252"/>
            <a:ext cx="10971587" cy="6440597"/>
            <a:chOff x="-1393389" y="857780"/>
            <a:chExt cx="11300903" cy="66339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7126970-7591-30FF-0F36-63A1D870D2AA}"/>
                </a:ext>
              </a:extLst>
            </p:cNvPr>
            <p:cNvSpPr txBox="1"/>
            <p:nvPr/>
          </p:nvSpPr>
          <p:spPr>
            <a:xfrm>
              <a:off x="-1393389" y="857780"/>
              <a:ext cx="11099800" cy="1377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179576">
                <a:lnSpc>
                  <a:spcPts val="11352"/>
                </a:lnSpc>
                <a:spcAft>
                  <a:spcPts val="600"/>
                </a:spcAft>
              </a:pPr>
              <a:r>
                <a:rPr lang="en-US" sz="8000" kern="1200" dirty="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Future Work</a:t>
              </a:r>
              <a:endParaRPr lang="en-US" sz="80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59D17A4-41E5-3384-4707-AC8321E73D9F}"/>
                </a:ext>
              </a:extLst>
            </p:cNvPr>
            <p:cNvSpPr txBox="1"/>
            <p:nvPr/>
          </p:nvSpPr>
          <p:spPr>
            <a:xfrm>
              <a:off x="-1192286" y="2879130"/>
              <a:ext cx="11099800" cy="4612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179576">
                <a:spcAft>
                  <a:spcPts val="600"/>
                </a:spcAft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Future Improvements</a:t>
              </a:r>
            </a:p>
            <a:p>
              <a:pPr defTabSz="1179576">
                <a:spcAft>
                  <a:spcPts val="600"/>
                </a:spcAft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571500" indent="-5715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Larger multilingual datasets</a:t>
              </a:r>
            </a:p>
            <a:p>
              <a:pPr marL="571500" indent="-5715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dirty="0"/>
                <a:t>More Accurate and robust </a:t>
              </a: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571500" indent="-5715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Better normalization techniques</a:t>
              </a:r>
            </a:p>
            <a:p>
              <a:pPr marL="571500" indent="-5715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Real-time moderation systems</a:t>
              </a:r>
            </a:p>
            <a:p>
              <a:pPr marL="571500" indent="-5715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Mobile application integration</a:t>
              </a:r>
            </a:p>
            <a:p>
              <a:pPr>
                <a:spcAft>
                  <a:spcPts val="600"/>
                </a:spcAft>
              </a:pP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788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B4E59-00CB-7725-FFC3-923A820F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518" y="720090"/>
            <a:ext cx="16856964" cy="884682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1D5DB04-BDF2-9A30-6811-B8E093E1FBEF}"/>
              </a:ext>
            </a:extLst>
          </p:cNvPr>
          <p:cNvGrpSpPr/>
          <p:nvPr/>
        </p:nvGrpSpPr>
        <p:grpSpPr>
          <a:xfrm>
            <a:off x="1524000" y="1685290"/>
            <a:ext cx="11725626" cy="6961445"/>
            <a:chOff x="-2178261" y="808378"/>
            <a:chExt cx="12077575" cy="717039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4E0191-4BC2-FA54-C415-92E8E611ECBE}"/>
                </a:ext>
              </a:extLst>
            </p:cNvPr>
            <p:cNvSpPr txBox="1"/>
            <p:nvPr/>
          </p:nvSpPr>
          <p:spPr>
            <a:xfrm>
              <a:off x="-1200486" y="808378"/>
              <a:ext cx="11099800" cy="1377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179576">
                <a:lnSpc>
                  <a:spcPts val="11352"/>
                </a:lnSpc>
                <a:spcAft>
                  <a:spcPts val="600"/>
                </a:spcAft>
              </a:pPr>
              <a:r>
                <a:rPr lang="en-US" sz="8000" kern="1200" dirty="0">
                  <a:solidFill>
                    <a:srgbClr val="2C3E5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Georgia Pro Light"/>
                </a:rPr>
                <a:t>Conclusion</a:t>
              </a:r>
              <a:endParaRPr lang="en-US" sz="8000" dirty="0">
                <a:solidFill>
                  <a:srgbClr val="2C3E50"/>
                </a:solidFill>
                <a:latin typeface="Times New Roman" panose="02020603050405020304" pitchFamily="18" charset="0"/>
                <a:ea typeface="Georgia Pro Light"/>
                <a:cs typeface="Times New Roman" panose="02020603050405020304" pitchFamily="18" charset="0"/>
                <a:sym typeface="Georgia Pro Ligh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A587B6-F79F-2D27-8E75-9F479F6FE5E0}"/>
                </a:ext>
              </a:extLst>
            </p:cNvPr>
            <p:cNvSpPr txBox="1"/>
            <p:nvPr/>
          </p:nvSpPr>
          <p:spPr>
            <a:xfrm>
              <a:off x="-2178261" y="2193257"/>
              <a:ext cx="11099800" cy="5785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179576">
                <a:spcAft>
                  <a:spcPts val="600"/>
                </a:spcAft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179576">
                <a:spcAft>
                  <a:spcPts val="600"/>
                </a:spcAft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dirty="0"/>
                <a:t>Medium</a:t>
              </a: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hate speech detection achieved</a:t>
              </a: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Multilingual handling improved significantly</a:t>
              </a: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Comparative model analysis completed</a:t>
              </a: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marL="457200" indent="-457200" defTabSz="1179576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3200" dirty="0"/>
                <a:t>Beginner</a:t>
              </a:r>
              <a:r>
                <a:rPr lang="en-US" sz="3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web system implemented</a:t>
              </a:r>
            </a:p>
            <a:p>
              <a:pPr>
                <a:spcAft>
                  <a:spcPts val="600"/>
                </a:spcAft>
              </a:pP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5975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532</Words>
  <Application>Microsoft Office PowerPoint</Application>
  <PresentationFormat>Custom</PresentationFormat>
  <Paragraphs>166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</vt:lpstr>
      <vt:lpstr>Calibri</vt:lpstr>
      <vt:lpstr>DM Sans Bold</vt:lpstr>
      <vt:lpstr>Arial</vt:lpstr>
      <vt:lpstr>Aptos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Multilingual Detection</dc:title>
  <dc:creator>DEVANSH SAINI</dc:creator>
  <dc:description>Presentation - Multilingual Detection</dc:description>
  <cp:lastModifiedBy>Devansh  .</cp:lastModifiedBy>
  <cp:revision>9</cp:revision>
  <dcterms:created xsi:type="dcterms:W3CDTF">2006-08-16T00:00:00Z</dcterms:created>
  <dcterms:modified xsi:type="dcterms:W3CDTF">2026-04-30T17:30:56Z</dcterms:modified>
  <dc:identifier>DAHHsY_8hbU</dc:identifier>
</cp:coreProperties>
</file>